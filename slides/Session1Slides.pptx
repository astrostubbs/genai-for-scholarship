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63" r:id="rId3"/>
    <p:sldId id="266" r:id="rId4"/>
    <p:sldId id="267" r:id="rId5"/>
    <p:sldId id="264" r:id="rId6"/>
    <p:sldId id="270" r:id="rId7"/>
    <p:sldId id="261" r:id="rId8"/>
    <p:sldId id="259" r:id="rId9"/>
    <p:sldId id="262" r:id="rId1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69"/>
    <p:restoredTop sz="94715"/>
  </p:normalViewPr>
  <p:slideViewPr>
    <p:cSldViewPr snapToGrid="0" snapToObjects="1">
      <p:cViewPr varScale="1">
        <p:scale>
          <a:sx n="162" d="100"/>
          <a:sy n="162" d="100"/>
        </p:scale>
        <p:origin x="552" y="18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EF05C-09FA-584B-9C8D-885C35AC911C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85C5DE-FB18-9447-8210-03C9408510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846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DF7F65-F6FF-37E3-7E4A-D41F92CCE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4378" y="4680469"/>
            <a:ext cx="1435052" cy="447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C4E8EE-24DD-6D2C-869F-33E88D86FBBB}"/>
              </a:ext>
            </a:extLst>
          </p:cNvPr>
          <p:cNvSpPr txBox="1"/>
          <p:nvPr userDrawn="1"/>
        </p:nvSpPr>
        <p:spPr>
          <a:xfrm>
            <a:off x="1867714" y="4646779"/>
            <a:ext cx="4805463" cy="461665"/>
          </a:xfrm>
          <a:prstGeom prst="rect">
            <a:avLst/>
          </a:prstGeom>
          <a:solidFill>
            <a:srgbClr val="A41034"/>
          </a:solidFill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sz="2400" dirty="0"/>
              <a:t>Generative AI for Scholarship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AF0D78-72EC-445D-E618-6141ECF7BF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013" y="4696069"/>
            <a:ext cx="1435052" cy="4474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BF735C7-13B8-98FB-A182-4AD75C832AC6}"/>
              </a:ext>
            </a:extLst>
          </p:cNvPr>
          <p:cNvSpPr txBox="1"/>
          <p:nvPr userDrawn="1"/>
        </p:nvSpPr>
        <p:spPr>
          <a:xfrm>
            <a:off x="1867714" y="4646779"/>
            <a:ext cx="4805463" cy="461665"/>
          </a:xfrm>
          <a:prstGeom prst="rect">
            <a:avLst/>
          </a:prstGeom>
          <a:solidFill>
            <a:srgbClr val="A41034"/>
          </a:solidFill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sz="2400" dirty="0"/>
              <a:t>Generative AI for Scholarship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bit.ly/3ZxtPw8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F3E8CF-DFF1-28FB-FFA4-80032A040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53" y="231084"/>
            <a:ext cx="7772400" cy="34081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3623DF-7FB4-89C8-8E28-3FB1B210355E}"/>
              </a:ext>
            </a:extLst>
          </p:cNvPr>
          <p:cNvSpPr txBox="1"/>
          <p:nvPr/>
        </p:nvSpPr>
        <p:spPr>
          <a:xfrm>
            <a:off x="3407696" y="3784922"/>
            <a:ext cx="20971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Welcome!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33AC4-99A1-4BDD-4014-656B2E0E2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F08614-C5D0-8939-4A5B-0E75B997BB5E}"/>
              </a:ext>
            </a:extLst>
          </p:cNvPr>
          <p:cNvSpPr txBox="1"/>
          <p:nvPr/>
        </p:nvSpPr>
        <p:spPr>
          <a:xfrm>
            <a:off x="527404" y="502584"/>
            <a:ext cx="35068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200" b="1">
                <a:solidFill>
                  <a:srgbClr val="1A73E8"/>
                </a:solidFill>
              </a:defRPr>
            </a:pPr>
            <a:r>
              <a:rPr lang="en-US" sz="3200" dirty="0"/>
              <a:t>AI is changing how we do research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D86E91-A260-A646-42DC-8D660E17C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153" y="0"/>
            <a:ext cx="4619110" cy="440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9115F5-07D8-9D70-AB5A-49CD116173C4}"/>
              </a:ext>
            </a:extLst>
          </p:cNvPr>
          <p:cNvSpPr txBox="1"/>
          <p:nvPr/>
        </p:nvSpPr>
        <p:spPr>
          <a:xfrm>
            <a:off x="7592507" y="856527"/>
            <a:ext cx="1389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Feb 14,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10CF1C-EC96-D38A-2A79-A5585AB07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8" y="2326510"/>
            <a:ext cx="4405194" cy="20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8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1AC3F0-3510-205D-1F23-95E41EC09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0"/>
            <a:ext cx="7772400" cy="458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71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70F11-22A2-37E5-B8C6-1B055611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0732A3-4947-2275-2BCA-330EE6285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8288"/>
            <a:ext cx="7772400" cy="4181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6327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B50B0-117D-52E3-2882-1348ADEE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3E1435-7B34-AE60-3826-D52489AD3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01383"/>
            <a:ext cx="7772400" cy="363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732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92584-E9E6-23BE-CC6E-817D07745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54" y="0"/>
            <a:ext cx="8052124" cy="554713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Quadrants of competencies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950A1A-98B0-7773-C172-4272EE0B38D2}"/>
              </a:ext>
            </a:extLst>
          </p:cNvPr>
          <p:cNvCxnSpPr>
            <a:cxnSpLocks/>
          </p:cNvCxnSpPr>
          <p:nvPr/>
        </p:nvCxnSpPr>
        <p:spPr>
          <a:xfrm>
            <a:off x="2333297" y="2407534"/>
            <a:ext cx="3515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0FD4079-BD7B-9A60-E6F7-FA49B5F1C9FD}"/>
              </a:ext>
            </a:extLst>
          </p:cNvPr>
          <p:cNvCxnSpPr>
            <a:cxnSpLocks/>
          </p:cNvCxnSpPr>
          <p:nvPr/>
        </p:nvCxnSpPr>
        <p:spPr>
          <a:xfrm flipH="1" flipV="1">
            <a:off x="4151454" y="924046"/>
            <a:ext cx="9645" cy="31502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260F320-13EB-AFBE-1008-F9CDEE3A79EE}"/>
              </a:ext>
            </a:extLst>
          </p:cNvPr>
          <p:cNvSpPr txBox="1"/>
          <p:nvPr/>
        </p:nvSpPr>
        <p:spPr>
          <a:xfrm>
            <a:off x="3357289" y="554714"/>
            <a:ext cx="1637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GIA proficiency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53FB1F-61AD-A353-8142-6CB40EEB25BA}"/>
              </a:ext>
            </a:extLst>
          </p:cNvPr>
          <p:cNvSpPr txBox="1"/>
          <p:nvPr/>
        </p:nvSpPr>
        <p:spPr>
          <a:xfrm>
            <a:off x="6938599" y="2084368"/>
            <a:ext cx="10659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Domain </a:t>
            </a:r>
          </a:p>
          <a:p>
            <a:r>
              <a:rPr lang="en-US" b="1" dirty="0"/>
              <a:t>expertise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B6C8CE-E64D-4A85-7E99-A6C0282090D0}"/>
              </a:ext>
            </a:extLst>
          </p:cNvPr>
          <p:cNvSpPr txBox="1"/>
          <p:nvPr/>
        </p:nvSpPr>
        <p:spPr>
          <a:xfrm>
            <a:off x="5949111" y="2222868"/>
            <a:ext cx="59022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FA0711-49E9-5FD8-280B-67875DE29A42}"/>
              </a:ext>
            </a:extLst>
          </p:cNvPr>
          <p:cNvSpPr txBox="1"/>
          <p:nvPr/>
        </p:nvSpPr>
        <p:spPr>
          <a:xfrm>
            <a:off x="3865986" y="3787065"/>
            <a:ext cx="52360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AC4080-B9CF-E85E-CB1F-931833D50369}"/>
              </a:ext>
            </a:extLst>
          </p:cNvPr>
          <p:cNvSpPr txBox="1"/>
          <p:nvPr/>
        </p:nvSpPr>
        <p:spPr>
          <a:xfrm>
            <a:off x="1581200" y="2222868"/>
            <a:ext cx="52360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7001B5-E87D-933B-5698-4738F21B0911}"/>
              </a:ext>
            </a:extLst>
          </p:cNvPr>
          <p:cNvSpPr txBox="1"/>
          <p:nvPr/>
        </p:nvSpPr>
        <p:spPr>
          <a:xfrm>
            <a:off x="3856341" y="843338"/>
            <a:ext cx="59022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8B5A24F3-F156-1A9D-30FC-64497BC4D0FD}"/>
              </a:ext>
            </a:extLst>
          </p:cNvPr>
          <p:cNvSpPr/>
          <p:nvPr/>
        </p:nvSpPr>
        <p:spPr>
          <a:xfrm rot="19769855">
            <a:off x="2866417" y="2165477"/>
            <a:ext cx="2785117" cy="358700"/>
          </a:xfrm>
          <a:prstGeom prst="right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446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32A0A7-9257-A62D-62F7-1A708D154496}"/>
              </a:ext>
            </a:extLst>
          </p:cNvPr>
          <p:cNvSpPr txBox="1"/>
          <p:nvPr/>
        </p:nvSpPr>
        <p:spPr>
          <a:xfrm>
            <a:off x="4585366" y="1673844"/>
            <a:ext cx="439658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QR code for all 8 sessions</a:t>
            </a:r>
          </a:p>
          <a:p>
            <a:r>
              <a:rPr lang="en-US" sz="3200" dirty="0"/>
              <a:t>Sign up!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2AE70F-B1E7-B43F-8CCA-DD0FC892E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46" y="150471"/>
            <a:ext cx="4409954" cy="412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31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501936"/>
              </p:ext>
            </p:extLst>
          </p:nvPr>
        </p:nvGraphicFramePr>
        <p:xfrm>
          <a:off x="0" y="0"/>
          <a:ext cx="9124545" cy="5143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21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452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7250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Tool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Primary Function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/>
                        <a:t>Context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(base level)</a:t>
                      </a:r>
                      <a:endParaRPr sz="1600" dirty="0"/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/>
                        <a:t>Privacy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sz="1600" dirty="0"/>
                        <a:t>Illustrative </a:t>
                      </a:r>
                      <a:r>
                        <a:rPr sz="1600" dirty="0"/>
                        <a:t>Use</a:t>
                      </a:r>
                    </a:p>
                  </a:txBody>
                  <a:tcPr marL="94415" marR="94415" marT="47208" marB="47208"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Gemini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Chat 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 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~50 pages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Private, one user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Multimodal AI tool, image generation, tutor, general queries. 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3017304034"/>
                  </a:ext>
                </a:extLst>
              </a:tr>
              <a:tr h="7966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NotebookLM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Querying and summarizing documents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50 sources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&lt; 200MB per file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Private by default</a:t>
                      </a:r>
                      <a:r>
                        <a:rPr lang="en-US" sz="1400" dirty="0"/>
                        <a:t>, sharable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Gives links to locations in docs as part of response.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Private resource library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/>
                        <a:t>Gemini Gems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Custom</a:t>
                      </a:r>
                      <a:r>
                        <a:rPr lang="en-US" sz="1400" dirty="0"/>
                        <a:t>izable!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Private to user</a:t>
                      </a:r>
                      <a:r>
                        <a:rPr lang="en-US" sz="1400" dirty="0"/>
                        <a:t>, sharable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Anything with a persistent, customized prompt- exam prep, policy checks…. 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43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GAI in IDE: Cursor, Windsurf, </a:t>
                      </a:r>
                      <a:r>
                        <a:rPr lang="en-US" sz="1400" dirty="0" err="1"/>
                        <a:t>VScode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Software development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NA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Live-share options exist.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Programming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258090245"/>
                  </a:ext>
                </a:extLst>
              </a:tr>
              <a:tr h="77591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Colab 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Python notebook + </a:t>
                      </a:r>
                      <a:r>
                        <a:rPr sz="1400" dirty="0"/>
                        <a:t>AI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Python </a:t>
                      </a:r>
                      <a:r>
                        <a:rPr lang="en-US" sz="1400" dirty="0"/>
                        <a:t>development,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data analysis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32K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Notebook sharing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Data analysis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Data browsing &amp; visualization</a:t>
                      </a:r>
                    </a:p>
                    <a:p>
                      <a:pPr>
                        <a:defRPr sz="1100"/>
                      </a:pPr>
                      <a:r>
                        <a:rPr lang="en-US" sz="1400" dirty="0"/>
                        <a:t>Code generation and debugging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309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Claude Code Command Line interface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 dirty="0"/>
                        <a:t>Agentic Workflow</a:t>
                      </a:r>
                      <a:r>
                        <a:rPr lang="en-US" sz="1400" dirty="0"/>
                        <a:t> on your laptop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200K tokens</a:t>
                      </a:r>
                      <a:endParaRPr sz="1400" dirty="0"/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400"/>
                        <a:t>Local execution</a:t>
                      </a:r>
                    </a:p>
                  </a:txBody>
                  <a:tcPr marL="94415" marR="94415" marT="47208" marB="47208"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lang="en-US" sz="1400" dirty="0"/>
                        <a:t>Problem solving!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Run on local data</a:t>
                      </a:r>
                    </a:p>
                    <a:p>
                      <a:pPr>
                        <a:defRPr sz="1100"/>
                      </a:pPr>
                      <a:r>
                        <a:rPr lang="en-US" sz="1400" dirty="0"/>
                        <a:t>OS execution</a:t>
                      </a:r>
                      <a:endParaRPr sz="1400" dirty="0"/>
                    </a:p>
                  </a:txBody>
                  <a:tcPr marL="94415" marR="94415" marT="47208" marB="472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E8DDE-63AD-35ED-2175-F71B3B71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028EDF-53C8-37C1-DB8D-A995A699B335}"/>
              </a:ext>
            </a:extLst>
          </p:cNvPr>
          <p:cNvSpPr txBox="1"/>
          <p:nvPr/>
        </p:nvSpPr>
        <p:spPr>
          <a:xfrm>
            <a:off x="328432" y="298337"/>
            <a:ext cx="66356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73E8"/>
                </a:solidFill>
              </a:defRPr>
            </a:pPr>
            <a:r>
              <a:rPr sz="2400" dirty="0"/>
              <a:t> </a:t>
            </a:r>
            <a:r>
              <a:rPr lang="en-US" sz="2400" dirty="0"/>
              <a:t>Three initial sessions, five more after Spring Break</a:t>
            </a:r>
            <a:endParaRPr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4133A0-EFF7-84C3-9179-6C3B85B72031}"/>
              </a:ext>
            </a:extLst>
          </p:cNvPr>
          <p:cNvSpPr txBox="1"/>
          <p:nvPr/>
        </p:nvSpPr>
        <p:spPr>
          <a:xfrm>
            <a:off x="81023" y="886673"/>
            <a:ext cx="8981954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1, Today: Google toolkit: Gemini, </a:t>
            </a:r>
            <a:r>
              <a:rPr sz="2400" dirty="0"/>
              <a:t>NotebookLM &amp; Custom Gems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2, Friday Feb 27: Integration of AI with Python notebooks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Session 3, Friday March 6: Claude Code command line interface. </a:t>
            </a:r>
          </a:p>
          <a:p>
            <a:pPr>
              <a:spcAft>
                <a:spcPts val="900"/>
              </a:spcAft>
              <a:defRPr sz="2000"/>
            </a:pPr>
            <a:endParaRPr lang="en-US" sz="2400" dirty="0"/>
          </a:p>
          <a:p>
            <a:pPr>
              <a:spcAft>
                <a:spcPts val="900"/>
              </a:spcAft>
              <a:defRPr sz="2000"/>
            </a:pPr>
            <a:r>
              <a:rPr lang="en-US" sz="2400" dirty="0"/>
              <a:t>Link for home page:  </a:t>
            </a:r>
          </a:p>
          <a:p>
            <a:pPr>
              <a:spcAft>
                <a:spcPts val="900"/>
              </a:spcAft>
              <a:defRPr sz="2000"/>
            </a:pPr>
            <a:r>
              <a:rPr lang="en-US" sz="2400" dirty="0">
                <a:hlinkClick r:id="rId2"/>
              </a:rPr>
              <a:t>https://bit.ly/3ZxtPw8</a:t>
            </a:r>
            <a:r>
              <a:rPr lang="en-US" sz="2400" dirty="0"/>
              <a:t> </a:t>
            </a:r>
            <a:endParaRPr sz="2400" dirty="0"/>
          </a:p>
          <a:p>
            <a:pPr>
              <a:spcAft>
                <a:spcPts val="900"/>
              </a:spcAft>
              <a:defRPr sz="2000"/>
            </a:pPr>
            <a:endParaRPr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9814F-909E-AC21-77A0-7A196A9DF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957" y="2344183"/>
            <a:ext cx="2039314" cy="203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2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14125</TotalTime>
  <Words>253</Words>
  <Application>Microsoft Macintosh PowerPoint</Application>
  <PresentationFormat>On-screen Show (16:9)</PresentationFormat>
  <Paragraphs>57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Quadrants of competencies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16</cp:revision>
  <dcterms:created xsi:type="dcterms:W3CDTF">2013-01-27T09:14:16Z</dcterms:created>
  <dcterms:modified xsi:type="dcterms:W3CDTF">2026-02-17T01:18:58Z</dcterms:modified>
  <cp:category/>
</cp:coreProperties>
</file>