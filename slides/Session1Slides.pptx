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7" r:id="rId2"/>
    <p:sldId id="271" r:id="rId3"/>
    <p:sldId id="272" r:id="rId4"/>
    <p:sldId id="263" r:id="rId5"/>
    <p:sldId id="266" r:id="rId6"/>
    <p:sldId id="267" r:id="rId7"/>
    <p:sldId id="264" r:id="rId8"/>
    <p:sldId id="270" r:id="rId9"/>
    <p:sldId id="261" r:id="rId10"/>
    <p:sldId id="259" r:id="rId11"/>
    <p:sldId id="262" r:id="rId1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65"/>
    <p:restoredTop sz="94715"/>
  </p:normalViewPr>
  <p:slideViewPr>
    <p:cSldViewPr snapToGrid="0" snapToObjects="1">
      <p:cViewPr varScale="1">
        <p:scale>
          <a:sx n="162" d="100"/>
          <a:sy n="162" d="100"/>
        </p:scale>
        <p:origin x="504" y="128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4EF05C-09FA-584B-9C8D-885C35AC911C}" type="datetimeFigureOut">
              <a:rPr lang="en-US" smtClean="0"/>
              <a:t>2/18/26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85C5DE-FB18-9447-8210-03C9408510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846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85C5DE-FB18-9447-8210-03C9408510D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4087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DF7F65-F6FF-37E3-7E4A-D41F92CCEA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4378" y="4680469"/>
            <a:ext cx="1435052" cy="44743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3C4E8EE-24DD-6D2C-869F-33E88D86FBBB}"/>
              </a:ext>
            </a:extLst>
          </p:cNvPr>
          <p:cNvSpPr txBox="1"/>
          <p:nvPr userDrawn="1"/>
        </p:nvSpPr>
        <p:spPr>
          <a:xfrm>
            <a:off x="1867714" y="4646779"/>
            <a:ext cx="4805463" cy="461665"/>
          </a:xfrm>
          <a:prstGeom prst="rect">
            <a:avLst/>
          </a:prstGeom>
          <a:solidFill>
            <a:srgbClr val="A41034"/>
          </a:solidFill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lang="en-US" sz="2400" dirty="0"/>
              <a:t>Generative AI for Scholarship</a:t>
            </a: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4AF0D78-72EC-445D-E618-6141ECF7BFA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013" y="4696069"/>
            <a:ext cx="1435052" cy="4474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BF735C7-13B8-98FB-A182-4AD75C832AC6}"/>
              </a:ext>
            </a:extLst>
          </p:cNvPr>
          <p:cNvSpPr txBox="1"/>
          <p:nvPr userDrawn="1"/>
        </p:nvSpPr>
        <p:spPr>
          <a:xfrm>
            <a:off x="1867714" y="4646779"/>
            <a:ext cx="4805463" cy="461665"/>
          </a:xfrm>
          <a:prstGeom prst="rect">
            <a:avLst/>
          </a:prstGeom>
          <a:solidFill>
            <a:srgbClr val="A41034"/>
          </a:solidFill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lang="en-US" sz="2400" dirty="0"/>
              <a:t>Generative AI for Scholarship</a:t>
            </a: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bit.ly/3ZxtPw8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5F3E8CF-DFF1-28FB-FFA4-80032A040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053" y="231084"/>
            <a:ext cx="7772400" cy="340811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43623DF-7FB4-89C8-8E28-3FB1B210355E}"/>
              </a:ext>
            </a:extLst>
          </p:cNvPr>
          <p:cNvSpPr txBox="1"/>
          <p:nvPr/>
        </p:nvSpPr>
        <p:spPr>
          <a:xfrm>
            <a:off x="3407696" y="3784922"/>
            <a:ext cx="20971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Welcome!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692ECF6-3779-331C-FE83-DC6D0A77B6D2}"/>
              </a:ext>
            </a:extLst>
          </p:cNvPr>
          <p:cNvSpPr/>
          <p:nvPr/>
        </p:nvSpPr>
        <p:spPr>
          <a:xfrm>
            <a:off x="1237593" y="3468414"/>
            <a:ext cx="6574221" cy="863634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D3127D-5A34-3957-9000-434450257C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366" y="166564"/>
            <a:ext cx="8229600" cy="550767"/>
          </a:xfrm>
        </p:spPr>
        <p:txBody>
          <a:bodyPr>
            <a:normAutofit fontScale="90000"/>
          </a:bodyPr>
          <a:lstStyle/>
          <a:p>
            <a:r>
              <a:rPr lang="en-US" dirty="0"/>
              <a:t>What’s Generative AI?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A301BE-CF75-6391-9CB6-62B414B49A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828" y="937576"/>
            <a:ext cx="8789276" cy="3394472"/>
          </a:xfrm>
        </p:spPr>
        <p:txBody>
          <a:bodyPr>
            <a:normAutofit lnSpcReduction="10000"/>
          </a:bodyPr>
          <a:lstStyle/>
          <a:p>
            <a:r>
              <a:rPr lang="en-US" sz="2000" dirty="0"/>
              <a:t>A suite of tools that are trained on an extensive corpus of information (text, images, etc.) and can make a statistical prediction of next-word in a sequence. </a:t>
            </a:r>
          </a:p>
          <a:p>
            <a:r>
              <a:rPr lang="en-US" sz="2000" dirty="0"/>
              <a:t>The cat that I saw was </a:t>
            </a:r>
            <a:r>
              <a:rPr lang="en-US" sz="2000" u="sng" dirty="0"/>
              <a:t>                   </a:t>
            </a:r>
            <a:r>
              <a:rPr lang="en-US" sz="2000" dirty="0"/>
              <a:t>.</a:t>
            </a:r>
          </a:p>
          <a:p>
            <a:endParaRPr lang="en-US" sz="2000" dirty="0"/>
          </a:p>
          <a:p>
            <a:r>
              <a:rPr lang="en-US" sz="2000" dirty="0"/>
              <a:t>Simple, right? Well…. maybe not.</a:t>
            </a:r>
          </a:p>
          <a:p>
            <a:r>
              <a:rPr lang="en-US" sz="2000" dirty="0"/>
              <a:t>ChatGPT was released Nov 2022. Caught nearly everyone off-guard.</a:t>
            </a:r>
          </a:p>
          <a:p>
            <a:r>
              <a:rPr lang="en-US" sz="2000" dirty="0"/>
              <a:t>Explosive growth in capabilities of GAI models, ever since. 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i="1" dirty="0"/>
              <a:t>                      Unless you’ve tried cutting edge GAI tools in the last month, </a:t>
            </a:r>
            <a:br>
              <a:rPr lang="en-US" sz="2000" i="1" dirty="0"/>
            </a:br>
            <a:r>
              <a:rPr lang="en-US" sz="2000" i="1" dirty="0"/>
              <a:t>                                your impressions are out of date and irrelevant.  </a:t>
            </a:r>
          </a:p>
        </p:txBody>
      </p:sp>
    </p:spTree>
    <p:extLst>
      <p:ext uri="{BB962C8B-B14F-4D97-AF65-F5344CB8AC3E}">
        <p14:creationId xmlns:p14="http://schemas.microsoft.com/office/powerpoint/2010/main" val="1962189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81731-9448-52E0-CE16-DE6F7F364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310" y="0"/>
            <a:ext cx="8229600" cy="857250"/>
          </a:xfrm>
        </p:spPr>
        <p:txBody>
          <a:bodyPr/>
          <a:lstStyle/>
          <a:p>
            <a:r>
              <a:rPr lang="en-US" dirty="0"/>
              <a:t>Characteristics of GAI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C63B49-2965-EEEC-A9F9-9FC34961D1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37" y="874514"/>
            <a:ext cx="8757745" cy="3394472"/>
          </a:xfrm>
        </p:spPr>
        <p:txBody>
          <a:bodyPr>
            <a:normAutofit/>
          </a:bodyPr>
          <a:lstStyle/>
          <a:p>
            <a:r>
              <a:rPr lang="en-US" sz="2000" dirty="0"/>
              <a:t>Output is </a:t>
            </a:r>
            <a:r>
              <a:rPr lang="en-US" sz="2000" u="sng" dirty="0"/>
              <a:t>not</a:t>
            </a:r>
            <a:r>
              <a:rPr lang="en-US" sz="2000" dirty="0"/>
              <a:t> repeatable; it depends on training data, uploaded additional information, and prior “context”. </a:t>
            </a:r>
          </a:p>
          <a:p>
            <a:r>
              <a:rPr lang="en-US" sz="2000" dirty="0"/>
              <a:t>Information is mapped into an “embedding” vector space, nearby concepts are close together in that space. </a:t>
            </a:r>
          </a:p>
          <a:p>
            <a:r>
              <a:rPr lang="en-US" sz="2000" dirty="0"/>
              <a:t>This abstract representation facilitates multimodal conversion of information: text to images, video to text, audio to text, English to French, etc. </a:t>
            </a:r>
          </a:p>
          <a:p>
            <a:r>
              <a:rPr lang="en-US" sz="2000" dirty="0"/>
              <a:t>But… computer programs produced by GAI </a:t>
            </a:r>
            <a:r>
              <a:rPr lang="en-US" sz="2000" u="sng" dirty="0"/>
              <a:t>are</a:t>
            </a:r>
            <a:r>
              <a:rPr lang="en-US" sz="2000" dirty="0"/>
              <a:t> reproducible.</a:t>
            </a:r>
          </a:p>
          <a:p>
            <a:r>
              <a:rPr lang="en-US" sz="2000" dirty="0"/>
              <a:t>One of our challenges is to validate GAI-produced output, including computer programs.  </a:t>
            </a:r>
          </a:p>
        </p:txBody>
      </p:sp>
    </p:spTree>
    <p:extLst>
      <p:ext uri="{BB962C8B-B14F-4D97-AF65-F5344CB8AC3E}">
        <p14:creationId xmlns:p14="http://schemas.microsoft.com/office/powerpoint/2010/main" val="27622474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33AC4-99A1-4BDD-4014-656B2E0E2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F08614-C5D0-8939-4A5B-0E75B997BB5E}"/>
              </a:ext>
            </a:extLst>
          </p:cNvPr>
          <p:cNvSpPr txBox="1"/>
          <p:nvPr/>
        </p:nvSpPr>
        <p:spPr>
          <a:xfrm>
            <a:off x="527404" y="502584"/>
            <a:ext cx="350680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3200" b="1">
                <a:solidFill>
                  <a:srgbClr val="1A73E8"/>
                </a:solidFill>
              </a:defRPr>
            </a:pPr>
            <a:r>
              <a:rPr lang="en-US" sz="3200" dirty="0"/>
              <a:t>AI is changing how we do research</a:t>
            </a:r>
            <a:endParaRPr sz="3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D86E91-A260-A646-42DC-8D660E17C2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153" y="0"/>
            <a:ext cx="4619110" cy="44080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9115F5-07D8-9D70-AB5A-49CD116173C4}"/>
              </a:ext>
            </a:extLst>
          </p:cNvPr>
          <p:cNvSpPr txBox="1"/>
          <p:nvPr/>
        </p:nvSpPr>
        <p:spPr>
          <a:xfrm>
            <a:off x="7592507" y="856527"/>
            <a:ext cx="1389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Feb 14, 2026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10CF1C-EC96-D38A-2A79-A5585AB07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08" y="2326510"/>
            <a:ext cx="4405194" cy="2081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289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1AC3F0-3510-205D-1F23-95E41EC09B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0"/>
            <a:ext cx="7772400" cy="4580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8719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70F11-22A2-37E5-B8C6-1B0556115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40732A3-4947-2275-2BCA-330EE62851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8288"/>
            <a:ext cx="7772400" cy="4181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632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B50B0-117D-52E3-2882-1348ADEEA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C3E1435-7B34-AE60-3826-D52489AD3C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01383"/>
            <a:ext cx="7772400" cy="3639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7324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92584-E9E6-23BE-CC6E-817D07745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54" y="0"/>
            <a:ext cx="8052124" cy="554713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Quadrants of competencies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E950A1A-98B0-7773-C172-4272EE0B38D2}"/>
              </a:ext>
            </a:extLst>
          </p:cNvPr>
          <p:cNvCxnSpPr>
            <a:cxnSpLocks/>
          </p:cNvCxnSpPr>
          <p:nvPr/>
        </p:nvCxnSpPr>
        <p:spPr>
          <a:xfrm>
            <a:off x="1994338" y="2785911"/>
            <a:ext cx="35157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0FD4079-BD7B-9A60-E6F7-FA49B5F1C9FD}"/>
              </a:ext>
            </a:extLst>
          </p:cNvPr>
          <p:cNvCxnSpPr>
            <a:cxnSpLocks/>
          </p:cNvCxnSpPr>
          <p:nvPr/>
        </p:nvCxnSpPr>
        <p:spPr>
          <a:xfrm flipV="1">
            <a:off x="3822140" y="1710559"/>
            <a:ext cx="0" cy="274210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260F320-13EB-AFBE-1008-F9CDEE3A79EE}"/>
              </a:ext>
            </a:extLst>
          </p:cNvPr>
          <p:cNvSpPr txBox="1"/>
          <p:nvPr/>
        </p:nvSpPr>
        <p:spPr>
          <a:xfrm>
            <a:off x="1696102" y="543468"/>
            <a:ext cx="4447828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GAI proficiency</a:t>
            </a:r>
            <a:br>
              <a:rPr lang="en-US" b="1" dirty="0"/>
            </a:br>
            <a:r>
              <a:rPr lang="en-US" b="1" dirty="0"/>
              <a:t> </a:t>
            </a:r>
            <a:r>
              <a:rPr lang="en-US" dirty="0"/>
              <a:t>required to remain competitive and reap the benefits of this technology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53FB1F-61AD-A353-8142-6CB40EEB25BA}"/>
              </a:ext>
            </a:extLst>
          </p:cNvPr>
          <p:cNvSpPr txBox="1"/>
          <p:nvPr/>
        </p:nvSpPr>
        <p:spPr>
          <a:xfrm>
            <a:off x="6300482" y="2047247"/>
            <a:ext cx="2581746" cy="147732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          Domain </a:t>
            </a:r>
          </a:p>
          <a:p>
            <a:r>
              <a:rPr lang="en-US" b="1" dirty="0"/>
              <a:t>         Expertise </a:t>
            </a:r>
            <a:br>
              <a:rPr lang="en-US" b="1" dirty="0"/>
            </a:br>
            <a:r>
              <a:rPr lang="en-US" dirty="0"/>
              <a:t>required for asking the right questions and for validation &amp; verification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B6C8CE-E64D-4A85-7E99-A6C0282090D0}"/>
              </a:ext>
            </a:extLst>
          </p:cNvPr>
          <p:cNvSpPr txBox="1"/>
          <p:nvPr/>
        </p:nvSpPr>
        <p:spPr>
          <a:xfrm>
            <a:off x="5069401" y="2571750"/>
            <a:ext cx="59022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high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FA0711-49E9-5FD8-280B-67875DE29A42}"/>
              </a:ext>
            </a:extLst>
          </p:cNvPr>
          <p:cNvSpPr txBox="1"/>
          <p:nvPr/>
        </p:nvSpPr>
        <p:spPr>
          <a:xfrm>
            <a:off x="3539111" y="4083334"/>
            <a:ext cx="52360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low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AC4080-B9CF-E85E-CB1F-931833D50369}"/>
              </a:ext>
            </a:extLst>
          </p:cNvPr>
          <p:cNvSpPr txBox="1"/>
          <p:nvPr/>
        </p:nvSpPr>
        <p:spPr>
          <a:xfrm>
            <a:off x="1844759" y="2571750"/>
            <a:ext cx="52360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low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7001B5-E87D-933B-5698-4738F21B0911}"/>
              </a:ext>
            </a:extLst>
          </p:cNvPr>
          <p:cNvSpPr txBox="1"/>
          <p:nvPr/>
        </p:nvSpPr>
        <p:spPr>
          <a:xfrm>
            <a:off x="3514479" y="1572356"/>
            <a:ext cx="59022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high</a:t>
            </a:r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8B5A24F3-F156-1A9D-30FC-64497BC4D0FD}"/>
              </a:ext>
            </a:extLst>
          </p:cNvPr>
          <p:cNvSpPr/>
          <p:nvPr/>
        </p:nvSpPr>
        <p:spPr>
          <a:xfrm rot="19769855">
            <a:off x="2527458" y="2543854"/>
            <a:ext cx="2785117" cy="358700"/>
          </a:xfrm>
          <a:prstGeom prst="rightArrow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446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32A0A7-9257-A62D-62F7-1A708D154496}"/>
              </a:ext>
            </a:extLst>
          </p:cNvPr>
          <p:cNvSpPr txBox="1"/>
          <p:nvPr/>
        </p:nvSpPr>
        <p:spPr>
          <a:xfrm>
            <a:off x="4585366" y="1673844"/>
            <a:ext cx="439658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QR code for all 8 sessions</a:t>
            </a:r>
          </a:p>
          <a:p>
            <a:r>
              <a:rPr lang="en-US" sz="3200" dirty="0"/>
              <a:t>Sign up!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2AE70F-B1E7-B43F-8CCA-DD0FC892E3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046" y="150471"/>
            <a:ext cx="4409954" cy="4123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1310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1501936"/>
              </p:ext>
            </p:extLst>
          </p:nvPr>
        </p:nvGraphicFramePr>
        <p:xfrm>
          <a:off x="0" y="0"/>
          <a:ext cx="9124545" cy="51435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6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1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8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21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452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72505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 dirty="0"/>
                        <a:t>Tool</a:t>
                      </a:r>
                    </a:p>
                  </a:txBody>
                  <a:tcPr marL="94415" marR="94415" marT="47208" marB="47208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/>
                        <a:t>Primary Function</a:t>
                      </a:r>
                    </a:p>
                  </a:txBody>
                  <a:tcPr marL="94415" marR="94415" marT="47208" marB="47208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 dirty="0"/>
                        <a:t>Context</a:t>
                      </a:r>
                      <a:br>
                        <a:rPr lang="en-US" sz="1600" dirty="0"/>
                      </a:br>
                      <a:r>
                        <a:rPr lang="en-US" sz="1600" dirty="0"/>
                        <a:t>(base level)</a:t>
                      </a:r>
                      <a:endParaRPr sz="1600" dirty="0"/>
                    </a:p>
                  </a:txBody>
                  <a:tcPr marL="94415" marR="94415" marT="47208" marB="47208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/>
                        <a:t>Privacy</a:t>
                      </a:r>
                    </a:p>
                  </a:txBody>
                  <a:tcPr marL="94415" marR="94415" marT="47208" marB="47208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600" dirty="0"/>
                        <a:t>Illustrative </a:t>
                      </a:r>
                      <a:r>
                        <a:rPr sz="1600" dirty="0"/>
                        <a:t>Use</a:t>
                      </a:r>
                    </a:p>
                  </a:txBody>
                  <a:tcPr marL="94415" marR="94415" marT="47208" marB="47208">
                    <a:solidFill>
                      <a:srgbClr val="1A7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5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Gemini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Chat 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32K  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~50 pages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Private, one user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Multimodal AI tool, image generation, tutor, general queries. </a:t>
                      </a:r>
                      <a:endParaRPr sz="1400" dirty="0"/>
                    </a:p>
                  </a:txBody>
                  <a:tcPr marL="94415" marR="94415" marT="47208" marB="47208"/>
                </a:tc>
                <a:extLst>
                  <a:ext uri="{0D108BD9-81ED-4DB2-BD59-A6C34878D82A}">
                    <a16:rowId xmlns:a16="http://schemas.microsoft.com/office/drawing/2014/main" val="3017304034"/>
                  </a:ext>
                </a:extLst>
              </a:tr>
              <a:tr h="796621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/>
                        <a:t>NotebookLM</a:t>
                      </a:r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Querying and summarizing documents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/>
                        <a:t>50 sources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&lt; 200MB per file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/>
                        <a:t>Private by default</a:t>
                      </a:r>
                      <a:r>
                        <a:rPr lang="en-US" sz="1400" dirty="0"/>
                        <a:t>, sharable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Gives links to locations in docs as part of response.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Private resource library</a:t>
                      </a:r>
                      <a:endParaRPr sz="1400" dirty="0"/>
                    </a:p>
                  </a:txBody>
                  <a:tcPr marL="94415" marR="94415" marT="47208" marB="4720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5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/>
                        <a:t>Gemini Gems</a:t>
                      </a:r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/>
                        <a:t>Custom</a:t>
                      </a:r>
                      <a:r>
                        <a:rPr lang="en-US" sz="1400" dirty="0"/>
                        <a:t>izable!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32K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/>
                        <a:t>Private to user</a:t>
                      </a:r>
                      <a:r>
                        <a:rPr lang="en-US" sz="1400" dirty="0"/>
                        <a:t>, sharable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Anything with a persistent, customized prompt- exam prep, policy checks…. </a:t>
                      </a:r>
                      <a:endParaRPr sz="1400" dirty="0"/>
                    </a:p>
                  </a:txBody>
                  <a:tcPr marL="94415" marR="94415" marT="47208" marB="4720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43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GAI in IDE: Cursor, Windsurf, </a:t>
                      </a:r>
                      <a:r>
                        <a:rPr lang="en-US" sz="1400" dirty="0" err="1"/>
                        <a:t>VScode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Software development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NA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Live-share options exist.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Programming</a:t>
                      </a:r>
                      <a:endParaRPr sz="1400" dirty="0"/>
                    </a:p>
                  </a:txBody>
                  <a:tcPr marL="94415" marR="94415" marT="47208" marB="47208"/>
                </a:tc>
                <a:extLst>
                  <a:ext uri="{0D108BD9-81ED-4DB2-BD59-A6C34878D82A}">
                    <a16:rowId xmlns:a16="http://schemas.microsoft.com/office/drawing/2014/main" val="258090245"/>
                  </a:ext>
                </a:extLst>
              </a:tr>
              <a:tr h="77591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/>
                        <a:t>Colab 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Python notebook + </a:t>
                      </a:r>
                      <a:r>
                        <a:rPr sz="1400" dirty="0"/>
                        <a:t>AI</a:t>
                      </a:r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/>
                        <a:t>Python </a:t>
                      </a:r>
                      <a:r>
                        <a:rPr lang="en-US" sz="1400" dirty="0"/>
                        <a:t>development,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data analysis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32K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/>
                        <a:t>Notebook sharing</a:t>
                      </a:r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/>
                        <a:t>Data analysis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Data browsing &amp; visualization</a:t>
                      </a:r>
                    </a:p>
                    <a:p>
                      <a:pPr>
                        <a:defRPr sz="1100"/>
                      </a:pPr>
                      <a:r>
                        <a:rPr lang="en-US" sz="1400" dirty="0"/>
                        <a:t>Code generation and debugging</a:t>
                      </a:r>
                      <a:endParaRPr sz="1400" dirty="0"/>
                    </a:p>
                  </a:txBody>
                  <a:tcPr marL="94415" marR="94415" marT="47208" marB="47208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33094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Claude Code Command Line interface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/>
                        <a:t>Agentic Workflow</a:t>
                      </a:r>
                      <a:r>
                        <a:rPr lang="en-US" sz="1400" dirty="0"/>
                        <a:t> on your laptop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200K tokens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/>
                        <a:t>Local execution</a:t>
                      </a:r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Problem solving!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Run on local data</a:t>
                      </a:r>
                    </a:p>
                    <a:p>
                      <a:pPr>
                        <a:defRPr sz="1100"/>
                      </a:pPr>
                      <a:r>
                        <a:rPr lang="en-US" sz="1400" dirty="0"/>
                        <a:t>OS execution</a:t>
                      </a:r>
                      <a:endParaRPr sz="1400" dirty="0"/>
                    </a:p>
                  </a:txBody>
                  <a:tcPr marL="94415" marR="94415" marT="47208" marB="47208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E8DDE-63AD-35ED-2175-F71B3B719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028EDF-53C8-37C1-DB8D-A995A699B335}"/>
              </a:ext>
            </a:extLst>
          </p:cNvPr>
          <p:cNvSpPr txBox="1"/>
          <p:nvPr/>
        </p:nvSpPr>
        <p:spPr>
          <a:xfrm>
            <a:off x="328432" y="298337"/>
            <a:ext cx="6635663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73E8"/>
                </a:solidFill>
              </a:defRPr>
            </a:pPr>
            <a:r>
              <a:rPr sz="2400" dirty="0"/>
              <a:t> </a:t>
            </a:r>
            <a:r>
              <a:rPr lang="en-US" sz="2400" dirty="0"/>
              <a:t>Three initial sessions, five more after Spring Break</a:t>
            </a:r>
            <a:endParaRPr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4133A0-EFF7-84C3-9179-6C3B85B72031}"/>
              </a:ext>
            </a:extLst>
          </p:cNvPr>
          <p:cNvSpPr txBox="1"/>
          <p:nvPr/>
        </p:nvSpPr>
        <p:spPr>
          <a:xfrm>
            <a:off x="81023" y="886673"/>
            <a:ext cx="8981954" cy="3370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/>
            </a:pPr>
            <a:r>
              <a:rPr lang="en-US" sz="2400" dirty="0"/>
              <a:t>Session 1, Today: Google toolkit: Gemini, </a:t>
            </a:r>
            <a:r>
              <a:rPr sz="2400" dirty="0"/>
              <a:t>NotebookLM &amp; Custom Gems</a:t>
            </a:r>
          </a:p>
          <a:p>
            <a:pPr>
              <a:spcAft>
                <a:spcPts val="900"/>
              </a:spcAft>
              <a:defRPr sz="2000"/>
            </a:pPr>
            <a:r>
              <a:rPr lang="en-US" sz="2400" dirty="0"/>
              <a:t>Session 2, Friday Feb 27: Integration of AI with Python notebooks</a:t>
            </a:r>
          </a:p>
          <a:p>
            <a:pPr>
              <a:spcAft>
                <a:spcPts val="900"/>
              </a:spcAft>
              <a:defRPr sz="2000"/>
            </a:pPr>
            <a:r>
              <a:rPr lang="en-US" sz="2400" dirty="0"/>
              <a:t>Session 3, Friday March 6: Claude Code command line interface. </a:t>
            </a:r>
          </a:p>
          <a:p>
            <a:pPr>
              <a:spcAft>
                <a:spcPts val="900"/>
              </a:spcAft>
              <a:defRPr sz="2000"/>
            </a:pPr>
            <a:endParaRPr lang="en-US" sz="2400" dirty="0"/>
          </a:p>
          <a:p>
            <a:pPr>
              <a:spcAft>
                <a:spcPts val="900"/>
              </a:spcAft>
              <a:defRPr sz="2000"/>
            </a:pPr>
            <a:r>
              <a:rPr lang="en-US" sz="2400" dirty="0"/>
              <a:t>Link for home page:  </a:t>
            </a:r>
          </a:p>
          <a:p>
            <a:pPr>
              <a:spcAft>
                <a:spcPts val="900"/>
              </a:spcAft>
              <a:defRPr sz="2000"/>
            </a:pPr>
            <a:r>
              <a:rPr lang="en-US" sz="2400" dirty="0">
                <a:hlinkClick r:id="rId2"/>
              </a:rPr>
              <a:t>https://bit.ly/3ZxtPw8</a:t>
            </a:r>
            <a:r>
              <a:rPr lang="en-US" sz="2400" dirty="0"/>
              <a:t> </a:t>
            </a:r>
            <a:endParaRPr sz="2400" dirty="0"/>
          </a:p>
          <a:p>
            <a:pPr>
              <a:spcAft>
                <a:spcPts val="900"/>
              </a:spcAft>
              <a:defRPr sz="2000"/>
            </a:pPr>
            <a:endParaRPr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F9814F-909E-AC21-77A0-7A196A9DF5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2957" y="2344183"/>
            <a:ext cx="2039314" cy="2039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216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16953</TotalTime>
  <Words>474</Words>
  <Application>Microsoft Macintosh PowerPoint</Application>
  <PresentationFormat>On-screen Show (16:9)</PresentationFormat>
  <Paragraphs>73</Paragraphs>
  <Slides>11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Calibri</vt:lpstr>
      <vt:lpstr>Office Theme</vt:lpstr>
      <vt:lpstr>PowerPoint Presentation</vt:lpstr>
      <vt:lpstr>What’s Generative AI? </vt:lpstr>
      <vt:lpstr>Characteristics of GAI systems</vt:lpstr>
      <vt:lpstr>PowerPoint Presentation</vt:lpstr>
      <vt:lpstr>PowerPoint Presentation</vt:lpstr>
      <vt:lpstr>PowerPoint Presentation</vt:lpstr>
      <vt:lpstr>PowerPoint Presentation</vt:lpstr>
      <vt:lpstr>Quadrants of competencies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Stubbs, Christopher William</cp:lastModifiedBy>
  <cp:revision>20</cp:revision>
  <dcterms:created xsi:type="dcterms:W3CDTF">2013-01-27T09:14:16Z</dcterms:created>
  <dcterms:modified xsi:type="dcterms:W3CDTF">2026-02-19T00:28:34Z</dcterms:modified>
  <cp:category/>
</cp:coreProperties>
</file>